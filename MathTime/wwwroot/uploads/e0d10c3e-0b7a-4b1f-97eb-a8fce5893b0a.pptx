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63" r:id="rId6"/>
    <p:sldId id="264" r:id="rId7"/>
    <p:sldId id="265" r:id="rId8"/>
    <p:sldId id="266" r:id="rId9"/>
    <p:sldId id="268" r:id="rId10"/>
    <p:sldId id="269" r:id="rId11"/>
  </p:sldIdLst>
  <p:sldSz cx="18288000" cy="10287000"/>
  <p:notesSz cx="6858000" cy="9144000"/>
  <p:embeddedFontLst>
    <p:embeddedFont>
      <p:font typeface="Literaturnaya Bold" panose="020B0604020202020204" charset="-52"/>
      <p:regular r:id="rId12"/>
    </p:embeddedFont>
    <p:embeddedFont>
      <p:font typeface="Open Sauce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iteraturnaya" panose="020B0604020202020204" charset="-52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7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42061" y="-708339"/>
            <a:ext cx="22772122" cy="11755210"/>
            <a:chOff x="0" y="0"/>
            <a:chExt cx="30362829" cy="15673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4" y="0"/>
                  </a:lnTo>
                  <a:lnTo>
                    <a:pt x="15200674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162156" y="47294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3" y="0"/>
                  </a:lnTo>
                  <a:lnTo>
                    <a:pt x="15200673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58606" y="1259660"/>
            <a:ext cx="16970787" cy="497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79"/>
              </a:lnSpc>
            </a:pPr>
            <a:r>
              <a:rPr lang="en-US" sz="10377" b="1" spc="529">
                <a:solidFill>
                  <a:srgbClr val="000000"/>
                </a:solidFill>
                <a:latin typeface="Literaturnaya Bold"/>
                <a:ea typeface="Literaturnaya Bold"/>
                <a:cs typeface="Literaturnaya Bold"/>
                <a:sym typeface="Literaturnaya Bold"/>
              </a:rPr>
              <a:t>“Натураль һандарҙы сағыштырыу һәм түңәрәкләү”</a:t>
            </a:r>
            <a:r>
              <a:rPr lang="en-US" sz="10377" spc="529">
                <a:solidFill>
                  <a:srgbClr val="000000"/>
                </a:solidFill>
                <a:latin typeface="Literaturnaya"/>
                <a:ea typeface="Literaturnaya"/>
                <a:cs typeface="Literaturnaya"/>
                <a:sym typeface="Literaturnaya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92245" y="6938118"/>
            <a:ext cx="13503509" cy="87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52"/>
              </a:lnSpc>
              <a:spcBef>
                <a:spcPct val="0"/>
              </a:spcBef>
            </a:pPr>
            <a:r>
              <a:rPr lang="en-US" sz="5037" dirty="0">
                <a:solidFill>
                  <a:srgbClr val="000000"/>
                </a:solidFill>
                <a:latin typeface="Literaturnaya"/>
                <a:ea typeface="Literaturnaya"/>
                <a:cs typeface="Literaturnaya"/>
                <a:sym typeface="Literaturnaya"/>
              </a:rPr>
              <a:t>“</a:t>
            </a:r>
            <a:r>
              <a:rPr lang="en-US" sz="5037" dirty="0" err="1">
                <a:solidFill>
                  <a:srgbClr val="000000"/>
                </a:solidFill>
                <a:latin typeface="Literaturnaya"/>
                <a:ea typeface="Literaturnaya"/>
                <a:cs typeface="Literaturnaya"/>
                <a:sym typeface="Literaturnaya"/>
              </a:rPr>
              <a:t>Сравнение</a:t>
            </a:r>
            <a:r>
              <a:rPr lang="en-US" sz="5037" dirty="0">
                <a:solidFill>
                  <a:srgbClr val="000000"/>
                </a:solidFill>
                <a:latin typeface="Literaturnaya"/>
                <a:ea typeface="Literaturnaya"/>
                <a:cs typeface="Literaturnaya"/>
                <a:sym typeface="Literaturnaya"/>
              </a:rPr>
              <a:t>, </a:t>
            </a:r>
            <a:r>
              <a:rPr lang="en-US" sz="5037" dirty="0" err="1">
                <a:solidFill>
                  <a:srgbClr val="000000"/>
                </a:solidFill>
                <a:latin typeface="Literaturnaya"/>
                <a:ea typeface="Literaturnaya"/>
                <a:cs typeface="Literaturnaya"/>
                <a:sym typeface="Literaturnaya"/>
              </a:rPr>
              <a:t>округление</a:t>
            </a:r>
            <a:r>
              <a:rPr lang="en-US" sz="5037" dirty="0">
                <a:solidFill>
                  <a:srgbClr val="000000"/>
                </a:solidFill>
                <a:latin typeface="Literaturnaya"/>
                <a:ea typeface="Literaturnaya"/>
                <a:cs typeface="Literaturnaya"/>
                <a:sym typeface="Literaturnaya"/>
              </a:rPr>
              <a:t> </a:t>
            </a:r>
            <a:r>
              <a:rPr lang="en-US" sz="5037" dirty="0" err="1">
                <a:solidFill>
                  <a:srgbClr val="000000"/>
                </a:solidFill>
                <a:latin typeface="Literaturnaya"/>
                <a:ea typeface="Literaturnaya"/>
                <a:cs typeface="Literaturnaya"/>
                <a:sym typeface="Literaturnaya"/>
              </a:rPr>
              <a:t>натуральных</a:t>
            </a:r>
            <a:r>
              <a:rPr lang="en-US" sz="5037" dirty="0">
                <a:solidFill>
                  <a:srgbClr val="000000"/>
                </a:solidFill>
                <a:latin typeface="Literaturnaya"/>
                <a:ea typeface="Literaturnaya"/>
                <a:cs typeface="Literaturnaya"/>
                <a:sym typeface="Literaturnaya"/>
              </a:rPr>
              <a:t> </a:t>
            </a:r>
            <a:r>
              <a:rPr lang="en-US" sz="5037" dirty="0" err="1">
                <a:solidFill>
                  <a:srgbClr val="000000"/>
                </a:solidFill>
                <a:latin typeface="Literaturnaya"/>
                <a:ea typeface="Literaturnaya"/>
                <a:cs typeface="Literaturnaya"/>
                <a:sym typeface="Literaturnaya"/>
              </a:rPr>
              <a:t>чисел</a:t>
            </a:r>
            <a:r>
              <a:rPr lang="en-US" sz="5037" dirty="0">
                <a:solidFill>
                  <a:srgbClr val="000000"/>
                </a:solidFill>
                <a:latin typeface="Literaturnaya"/>
                <a:ea typeface="Literaturnaya"/>
                <a:cs typeface="Literaturnaya"/>
                <a:sym typeface="Literaturnaya"/>
              </a:rPr>
              <a:t>”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4659" y="3314700"/>
            <a:ext cx="2737192" cy="273719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77" y="7446913"/>
            <a:ext cx="2133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09567" y="-342900"/>
            <a:ext cx="22772122" cy="11755210"/>
            <a:chOff x="0" y="0"/>
            <a:chExt cx="30362829" cy="15673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4" y="0"/>
                  </a:lnTo>
                  <a:lnTo>
                    <a:pt x="15200674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162156" y="47294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3" y="0"/>
                  </a:lnTo>
                  <a:lnTo>
                    <a:pt x="15200673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05125">
            <a:off x="-136508" y="447580"/>
            <a:ext cx="9301555" cy="9765491"/>
          </a:xfrm>
          <a:custGeom>
            <a:avLst/>
            <a:gdLst/>
            <a:ahLst/>
            <a:cxnLst/>
            <a:rect l="l" t="t" r="r" b="b"/>
            <a:pathLst>
              <a:path w="8240909" h="8261563">
                <a:moveTo>
                  <a:pt x="0" y="0"/>
                </a:moveTo>
                <a:lnTo>
                  <a:pt x="8240909" y="0"/>
                </a:lnTo>
                <a:lnTo>
                  <a:pt x="8240909" y="8261563"/>
                </a:lnTo>
                <a:lnTo>
                  <a:pt x="0" y="8261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innerShdw blurRad="63500" dist="50800" dir="2700000">
              <a:prstClr val="black">
                <a:alpha val="50000"/>
              </a:prstClr>
            </a:innerShdw>
          </a:effectLst>
        </p:spPr>
      </p:sp>
      <p:sp>
        <p:nvSpPr>
          <p:cNvPr id="6" name="Freeform 6"/>
          <p:cNvSpPr/>
          <p:nvPr/>
        </p:nvSpPr>
        <p:spPr>
          <a:xfrm rot="399696">
            <a:off x="4571719" y="512722"/>
            <a:ext cx="668482" cy="1114137"/>
          </a:xfrm>
          <a:custGeom>
            <a:avLst/>
            <a:gdLst/>
            <a:ahLst/>
            <a:cxnLst/>
            <a:rect l="l" t="t" r="r" b="b"/>
            <a:pathLst>
              <a:path w="668482" h="1114137">
                <a:moveTo>
                  <a:pt x="0" y="0"/>
                </a:moveTo>
                <a:lnTo>
                  <a:pt x="668482" y="0"/>
                </a:lnTo>
                <a:lnTo>
                  <a:pt x="668482" y="1114137"/>
                </a:lnTo>
                <a:lnTo>
                  <a:pt x="0" y="11141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23451" y="2044846"/>
            <a:ext cx="7558549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8"/>
              </a:lnSpc>
            </a:pPr>
            <a:r>
              <a:rPr lang="ru-RU" sz="4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1. </a:t>
            </a:r>
            <a:r>
              <a:rPr lang="en-US" sz="4000" b="1" dirty="0" err="1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Натураль</a:t>
            </a:r>
            <a:r>
              <a:rPr lang="en-US" sz="4000" b="1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һандар</a:t>
            </a:r>
            <a:r>
              <a:rPr lang="en-US" sz="4000" b="1" dirty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нимәләр</a:t>
            </a:r>
            <a:r>
              <a:rPr lang="en-US" sz="4000" b="1" dirty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? </a:t>
            </a:r>
          </a:p>
          <a:p>
            <a:pPr marL="0" lvl="0" indent="0" algn="ctr">
              <a:lnSpc>
                <a:spcPts val="4208"/>
              </a:lnSpc>
            </a:pPr>
            <a:r>
              <a:rPr lang="en-US" sz="3200" dirty="0" err="1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Что</a:t>
            </a:r>
            <a:r>
              <a:rPr lang="en-US" sz="32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такое</a:t>
            </a:r>
            <a:r>
              <a:rPr lang="en-US" sz="3200" dirty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натуральные</a:t>
            </a:r>
            <a:r>
              <a:rPr lang="en-US" sz="3200" dirty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числа</a:t>
            </a:r>
            <a:r>
              <a:rPr lang="en-US" sz="3200" dirty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? </a:t>
            </a:r>
          </a:p>
          <a:p>
            <a:pPr marL="0" lvl="0" indent="0" algn="ctr">
              <a:lnSpc>
                <a:spcPts val="4208"/>
              </a:lnSpc>
            </a:pPr>
            <a:endParaRPr lang="en-US" sz="4000" dirty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marL="0" lvl="0" indent="0" algn="ctr">
              <a:lnSpc>
                <a:spcPts val="4208"/>
              </a:lnSpc>
            </a:pPr>
            <a:endParaRPr lang="en-US" sz="4000" dirty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  <a:spcBef>
                <a:spcPct val="0"/>
              </a:spcBef>
            </a:pPr>
            <a:r>
              <a:rPr lang="ru-RU" sz="4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2. </a:t>
            </a:r>
            <a:r>
              <a:rPr lang="en-US" sz="4000" b="1" dirty="0" err="1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Уларҙы</a:t>
            </a:r>
            <a:r>
              <a:rPr lang="en-US" sz="4000" b="1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нисек</a:t>
            </a:r>
            <a:r>
              <a:rPr lang="en-US" sz="4000" b="1" dirty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сағыштырырға</a:t>
            </a:r>
            <a:r>
              <a:rPr lang="en-US" sz="4000" b="1" dirty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? </a:t>
            </a:r>
            <a:endParaRPr lang="ru-RU" sz="4000" b="1" dirty="0" smtClean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  <a:spcBef>
                <a:spcPct val="0"/>
              </a:spcBef>
            </a:pPr>
            <a:r>
              <a:rPr lang="en-US" sz="3200" dirty="0" err="1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Как</a:t>
            </a:r>
            <a:r>
              <a:rPr lang="en-US" sz="32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их</a:t>
            </a:r>
            <a:r>
              <a:rPr lang="en-US" sz="3200" dirty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сравнивать</a:t>
            </a:r>
            <a:r>
              <a:rPr lang="en-US" sz="3200" dirty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?</a:t>
            </a:r>
          </a:p>
          <a:p>
            <a:pPr marL="0" lvl="0" indent="0" algn="ctr">
              <a:lnSpc>
                <a:spcPts val="4208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1026" name="Picture 2" descr="Составные числа: что такое, отличие от простых, сколько их, как определить  | РБК Life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7569"/>
          <a:stretch/>
        </p:blipFill>
        <p:spPr bwMode="auto">
          <a:xfrm>
            <a:off x="9677400" y="266700"/>
            <a:ext cx="8144946" cy="9372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90800" y="-800100"/>
            <a:ext cx="22772122" cy="11755210"/>
            <a:chOff x="0" y="0"/>
            <a:chExt cx="30362829" cy="15673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4" y="0"/>
                  </a:lnTo>
                  <a:lnTo>
                    <a:pt x="15200674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162156" y="47294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3" y="0"/>
                  </a:lnTo>
                  <a:lnTo>
                    <a:pt x="15200673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28600" y="723900"/>
            <a:ext cx="17602200" cy="7478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5400" b="1" dirty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Натураль </a:t>
            </a:r>
            <a:r>
              <a:rPr lang="ru-RU" sz="5400" b="1" dirty="0" err="1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һандар</a:t>
            </a:r>
            <a:r>
              <a:rPr lang="ru-RU" sz="5400" b="1" dirty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—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ул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һанау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өсөн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ҡулланылған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һандар</a:t>
            </a:r>
            <a:r>
              <a:rPr lang="ru-RU" sz="5400" dirty="0" smtClean="0">
                <a:latin typeface="Literaturnaya" panose="020B0604020202020204" charset="-52"/>
                <a:ea typeface="Literaturnaya" panose="020B0604020202020204" charset="-52"/>
              </a:rPr>
              <a:t>:</a:t>
            </a:r>
          </a:p>
          <a:p>
            <a:pPr algn="ctr"/>
            <a:r>
              <a:rPr lang="ru-RU" sz="4000" dirty="0">
                <a:latin typeface="Literaturnaya" panose="020B0604020202020204" charset="-52"/>
                <a:ea typeface="Literaturnaya" panose="020B0604020202020204" charset="-52"/>
              </a:rPr>
              <a:t>Натуральные числа — это числа, которые используются при счёте</a:t>
            </a:r>
            <a:r>
              <a:rPr lang="ru-RU" sz="4000" dirty="0" smtClean="0">
                <a:latin typeface="Literaturnaya" panose="020B0604020202020204" charset="-52"/>
                <a:ea typeface="Literaturnaya" panose="020B0604020202020204" charset="-52"/>
              </a:rPr>
              <a:t>:</a:t>
            </a:r>
            <a:endParaRPr lang="ru-RU" sz="4000" dirty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5400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1, </a:t>
            </a:r>
            <a:r>
              <a:rPr lang="ru-RU" sz="5400" dirty="0" smtClean="0">
                <a:latin typeface="Literaturnaya" panose="020B0604020202020204" charset="-52"/>
                <a:ea typeface="Literaturnaya" panose="020B0604020202020204" charset="-52"/>
              </a:rPr>
              <a:t>2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, 3, 4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һәм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башҡалар</a:t>
            </a:r>
            <a:r>
              <a:rPr lang="ru-RU" sz="5400" dirty="0" smtClean="0">
                <a:latin typeface="Literaturnaya" panose="020B0604020202020204" charset="-52"/>
                <a:ea typeface="Literaturnaya" panose="020B0604020202020204" charset="-52"/>
              </a:rPr>
              <a:t>.</a:t>
            </a:r>
          </a:p>
          <a:p>
            <a:pPr algn="ctr"/>
            <a:r>
              <a:rPr lang="ru-RU" sz="3600" dirty="0">
                <a:latin typeface="Literaturnaya" panose="020B0604020202020204" charset="-52"/>
                <a:ea typeface="Literaturnaya" panose="020B0604020202020204" charset="-52"/>
              </a:rPr>
              <a:t>1, </a:t>
            </a:r>
            <a:r>
              <a:rPr lang="ru-RU" sz="3600" dirty="0" smtClean="0">
                <a:latin typeface="Literaturnaya" panose="020B0604020202020204" charset="-52"/>
                <a:ea typeface="Literaturnaya" panose="020B0604020202020204" charset="-52"/>
              </a:rPr>
              <a:t>2</a:t>
            </a:r>
            <a:r>
              <a:rPr lang="ru-RU" sz="3600" dirty="0">
                <a:latin typeface="Literaturnaya" panose="020B0604020202020204" charset="-52"/>
                <a:ea typeface="Literaturnaya" panose="020B0604020202020204" charset="-52"/>
              </a:rPr>
              <a:t>, 3, 4 и так далее.</a:t>
            </a:r>
          </a:p>
          <a:p>
            <a:endParaRPr lang="ru-RU" sz="5400" dirty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Һандарҙы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сағыштырыу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өсөн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махсус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билдәләр</a:t>
            </a:r>
            <a:r>
              <a:rPr lang="ru-RU" sz="5400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dirty="0" err="1">
                <a:latin typeface="Literaturnaya" panose="020B0604020202020204" charset="-52"/>
                <a:ea typeface="Literaturnaya" panose="020B0604020202020204" charset="-52"/>
              </a:rPr>
              <a:t>ҡулланыла</a:t>
            </a:r>
            <a:r>
              <a:rPr lang="ru-RU" sz="5400" dirty="0" smtClean="0">
                <a:latin typeface="Literaturnaya" panose="020B0604020202020204" charset="-52"/>
                <a:ea typeface="Literaturnaya" panose="020B0604020202020204" charset="-52"/>
              </a:rPr>
              <a:t>:</a:t>
            </a:r>
          </a:p>
          <a:p>
            <a:pPr algn="ctr"/>
            <a:r>
              <a:rPr lang="ru-RU" sz="4000" dirty="0">
                <a:latin typeface="Literaturnaya" panose="020B0604020202020204" charset="-52"/>
                <a:ea typeface="Literaturnaya" panose="020B0604020202020204" charset="-52"/>
              </a:rPr>
              <a:t>Чтобы сравнить числа, используют специальные знаки: </a:t>
            </a:r>
            <a:endParaRPr lang="ru-RU" sz="40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5400" b="1" dirty="0" err="1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ҙур</a:t>
            </a:r>
            <a:r>
              <a:rPr lang="ru-RU" sz="5400" b="1" dirty="0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b="1" dirty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(&gt;), </a:t>
            </a:r>
            <a:r>
              <a:rPr lang="ru-RU" sz="5400" b="1" dirty="0" err="1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кәм</a:t>
            </a:r>
            <a:r>
              <a:rPr lang="ru-RU" sz="5400" b="1" dirty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 (&lt;), </a:t>
            </a:r>
            <a:r>
              <a:rPr lang="ru-RU" sz="5400" b="1" dirty="0" err="1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тигеҙ</a:t>
            </a:r>
            <a:r>
              <a:rPr lang="ru-RU" sz="5400" b="1" dirty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5400" b="1" dirty="0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(=)</a:t>
            </a:r>
            <a:r>
              <a:rPr lang="ru-RU" sz="5400" dirty="0" smtClean="0">
                <a:latin typeface="Literaturnaya" panose="020B0604020202020204" charset="-52"/>
                <a:ea typeface="Literaturnaya" panose="020B0604020202020204" charset="-52"/>
              </a:rPr>
              <a:t>.</a:t>
            </a:r>
          </a:p>
          <a:p>
            <a:pPr algn="ctr"/>
            <a:r>
              <a:rPr lang="ru-RU" sz="4000" dirty="0">
                <a:latin typeface="Literaturnaya" panose="020B0604020202020204" charset="-52"/>
                <a:ea typeface="Literaturnaya" panose="020B0604020202020204" charset="-52"/>
              </a:rPr>
              <a:t>больше (&gt;), меньше (&lt;) и равно (=).</a:t>
            </a:r>
          </a:p>
          <a:p>
            <a:endParaRPr lang="ru-RU" sz="5400" dirty="0">
              <a:latin typeface="Literaturnaya" panose="020B0604020202020204" charset="-52"/>
              <a:ea typeface="Literaturnaya" panose="020B0604020202020204" charset="-52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5022" y="8115300"/>
            <a:ext cx="1864417" cy="186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8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4390" y="-342900"/>
            <a:ext cx="22772122" cy="11755210"/>
            <a:chOff x="0" y="0"/>
            <a:chExt cx="30362829" cy="15673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4" y="0"/>
                  </a:lnTo>
                  <a:lnTo>
                    <a:pt x="15200674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162156" y="47294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3" y="0"/>
                  </a:lnTo>
                  <a:lnTo>
                    <a:pt x="15200673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05125">
            <a:off x="-136508" y="447580"/>
            <a:ext cx="9301555" cy="9765491"/>
          </a:xfrm>
          <a:custGeom>
            <a:avLst/>
            <a:gdLst/>
            <a:ahLst/>
            <a:cxnLst/>
            <a:rect l="l" t="t" r="r" b="b"/>
            <a:pathLst>
              <a:path w="8240909" h="8261563">
                <a:moveTo>
                  <a:pt x="0" y="0"/>
                </a:moveTo>
                <a:lnTo>
                  <a:pt x="8240909" y="0"/>
                </a:lnTo>
                <a:lnTo>
                  <a:pt x="8240909" y="8261563"/>
                </a:lnTo>
                <a:lnTo>
                  <a:pt x="0" y="8261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innerShdw blurRad="63500" dist="50800" dir="2700000">
              <a:prstClr val="black">
                <a:alpha val="50000"/>
              </a:prstClr>
            </a:innerShdw>
          </a:effectLst>
        </p:spPr>
      </p:sp>
      <p:sp>
        <p:nvSpPr>
          <p:cNvPr id="6" name="Freeform 6"/>
          <p:cNvSpPr/>
          <p:nvPr/>
        </p:nvSpPr>
        <p:spPr>
          <a:xfrm rot="399696">
            <a:off x="4571719" y="512722"/>
            <a:ext cx="668482" cy="1114137"/>
          </a:xfrm>
          <a:custGeom>
            <a:avLst/>
            <a:gdLst/>
            <a:ahLst/>
            <a:cxnLst/>
            <a:rect l="l" t="t" r="r" b="b"/>
            <a:pathLst>
              <a:path w="668482" h="1114137">
                <a:moveTo>
                  <a:pt x="0" y="0"/>
                </a:moveTo>
                <a:lnTo>
                  <a:pt x="668482" y="0"/>
                </a:lnTo>
                <a:lnTo>
                  <a:pt x="668482" y="1114137"/>
                </a:lnTo>
                <a:lnTo>
                  <a:pt x="0" y="11141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8600" y="2320293"/>
            <a:ext cx="7558549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8800" b="1" dirty="0" smtClean="0">
                <a:solidFill>
                  <a:srgbClr val="FF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&gt;</a:t>
            </a:r>
            <a:r>
              <a:rPr lang="en-US" sz="8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 </a:t>
            </a:r>
            <a:r>
              <a:rPr lang="ru-RU" sz="8000" dirty="0" err="1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ҙур</a:t>
            </a:r>
            <a:endParaRPr lang="en-US" sz="8000" dirty="0" smtClean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en-US" sz="66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     </a:t>
            </a:r>
            <a:r>
              <a:rPr lang="ru-RU" sz="4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больше</a:t>
            </a:r>
            <a:endParaRPr lang="en-US" sz="4000" dirty="0" smtClean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en-US" sz="6600" dirty="0" smtClean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marL="685800" indent="-685800" algn="ctr">
              <a:lnSpc>
                <a:spcPts val="4208"/>
              </a:lnSpc>
              <a:buFont typeface="Wingdings" panose="05000000000000000000" pitchFamily="2" charset="2"/>
              <a:buChar char="Ø"/>
            </a:pPr>
            <a:endParaRPr lang="ru-RU" sz="8000" dirty="0" smtClean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ru-RU" sz="8800" b="1" dirty="0" smtClean="0">
                <a:solidFill>
                  <a:srgbClr val="FF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&lt;</a:t>
            </a:r>
            <a:r>
              <a:rPr lang="ru-RU" sz="8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8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ru-RU" sz="8000" dirty="0" err="1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кәм</a:t>
            </a:r>
            <a:r>
              <a:rPr lang="ru-RU" sz="8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endParaRPr lang="en-US" sz="8000" dirty="0" smtClean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en-US" sz="8000" dirty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8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   </a:t>
            </a:r>
            <a:r>
              <a:rPr lang="ru-RU" sz="4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меньше</a:t>
            </a:r>
            <a:endParaRPr lang="en-US" sz="4000" dirty="0" smtClean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en-US" sz="6000" dirty="0" smtClean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ru-RU" sz="8000" dirty="0" smtClean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ru-RU" sz="8800" b="1" dirty="0" smtClean="0">
                <a:solidFill>
                  <a:srgbClr val="FF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=</a:t>
            </a:r>
            <a:r>
              <a:rPr lang="ru-RU" sz="8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8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ru-RU" sz="8000" dirty="0" err="1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тигеҙ</a:t>
            </a:r>
            <a:r>
              <a:rPr lang="ru-RU" sz="8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endParaRPr lang="en-US" sz="8000" dirty="0" smtClean="0">
              <a:solidFill>
                <a:srgbClr val="000000"/>
              </a:solidFill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en-US" sz="66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     </a:t>
            </a:r>
            <a:r>
              <a:rPr lang="ru-RU" sz="4000" dirty="0" smtClean="0">
                <a:solidFill>
                  <a:srgbClr val="00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равно</a:t>
            </a:r>
            <a:endParaRPr lang="en-US" sz="28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9958587" y="704466"/>
            <a:ext cx="7558549" cy="861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8"/>
              </a:lnSpc>
            </a:pPr>
            <a:r>
              <a:rPr lang="ru-RU" sz="8000" b="1" u="sng" dirty="0" err="1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Мисалдар</a:t>
            </a:r>
            <a:r>
              <a:rPr lang="ru-RU" sz="8000" b="1" u="sng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:</a:t>
            </a:r>
          </a:p>
          <a:p>
            <a:pPr algn="ctr">
              <a:lnSpc>
                <a:spcPts val="4208"/>
              </a:lnSpc>
            </a:pPr>
            <a:r>
              <a:rPr lang="ru-RU" sz="8000" b="1" dirty="0" smtClean="0">
                <a:solidFill>
                  <a:srgbClr val="FF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ru-RU" sz="40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Пример</a:t>
            </a:r>
            <a:endParaRPr lang="ru-RU" sz="8000" b="1" dirty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ru-RU" sz="6600" b="1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ru-RU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1. 123 </a:t>
            </a:r>
            <a:r>
              <a:rPr lang="ru-RU" sz="66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 132 </a:t>
            </a:r>
            <a:endParaRPr lang="ru-RU" sz="6600" b="1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ru-RU" sz="6600" b="1" dirty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en-US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    </a:t>
            </a:r>
            <a:r>
              <a:rPr lang="ru-RU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123 </a:t>
            </a:r>
            <a:r>
              <a:rPr lang="ru-RU" sz="6600" b="1" dirty="0">
                <a:solidFill>
                  <a:srgbClr val="FF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&lt;</a:t>
            </a:r>
            <a:r>
              <a:rPr lang="ru-RU" sz="66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ru-RU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132</a:t>
            </a:r>
            <a:endParaRPr lang="en-US" sz="6600" b="1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ru-RU" sz="6600" b="1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ru-RU" sz="6600" b="1" dirty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ru-RU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2. 256 </a:t>
            </a:r>
            <a:r>
              <a:rPr lang="ru-RU" sz="66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 </a:t>
            </a:r>
            <a:r>
              <a:rPr lang="ru-RU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256</a:t>
            </a:r>
          </a:p>
          <a:p>
            <a:pPr algn="ctr">
              <a:lnSpc>
                <a:spcPts val="4208"/>
              </a:lnSpc>
            </a:pPr>
            <a:endParaRPr lang="ru-RU" sz="6600" b="1" dirty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en-US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    </a:t>
            </a:r>
            <a:r>
              <a:rPr lang="ru-RU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256 </a:t>
            </a:r>
            <a:r>
              <a:rPr lang="ru-RU" sz="6600" b="1" dirty="0">
                <a:solidFill>
                  <a:srgbClr val="FF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=</a:t>
            </a:r>
            <a:r>
              <a:rPr lang="ru-RU" sz="66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ru-RU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256</a:t>
            </a:r>
            <a:endParaRPr lang="en-US" sz="6600" b="1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ru-RU" sz="6600" b="1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ru-RU" sz="6600" b="1" dirty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ru-RU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3. 256 </a:t>
            </a:r>
            <a:r>
              <a:rPr lang="ru-RU" sz="66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 </a:t>
            </a:r>
            <a:r>
              <a:rPr lang="ru-RU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123</a:t>
            </a:r>
            <a:endParaRPr lang="en-US" sz="6600" b="1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ru-RU" sz="6600" b="1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en-US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    </a:t>
            </a:r>
            <a:r>
              <a:rPr lang="ru-RU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256</a:t>
            </a:r>
            <a:r>
              <a:rPr lang="en-US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en-US" sz="6600" b="1" dirty="0" smtClean="0">
                <a:solidFill>
                  <a:srgbClr val="FF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&gt;</a:t>
            </a:r>
            <a:r>
              <a:rPr lang="en-US" sz="66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123</a:t>
            </a:r>
            <a:endParaRPr lang="en-US" dirty="0"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6776" y="8124591"/>
            <a:ext cx="1864417" cy="186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9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14600" y="-723900"/>
            <a:ext cx="22772122" cy="11755210"/>
            <a:chOff x="0" y="0"/>
            <a:chExt cx="30362829" cy="15673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4" y="0"/>
                  </a:lnTo>
                  <a:lnTo>
                    <a:pt x="15200674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162156" y="47294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3" y="0"/>
                  </a:lnTo>
                  <a:lnTo>
                    <a:pt x="15200673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09600" y="451110"/>
            <a:ext cx="17373600" cy="105259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Натураль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һанды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яҡынлаштырыу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өсөн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,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бирелгән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разрядтан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һуң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 smtClean="0">
                <a:latin typeface="Literaturnaya" panose="020B0604020202020204" charset="-52"/>
                <a:ea typeface="Literaturnaya" panose="020B0604020202020204" charset="-52"/>
              </a:rPr>
              <a:t>килгән</a:t>
            </a:r>
            <a:r>
              <a:rPr lang="ru-RU" sz="4000" b="1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 smtClean="0">
                <a:latin typeface="Literaturnaya" panose="020B0604020202020204" charset="-52"/>
                <a:ea typeface="Literaturnaya" panose="020B0604020202020204" charset="-52"/>
              </a:rPr>
              <a:t>бөтә</a:t>
            </a:r>
            <a:endParaRPr lang="ru-RU" sz="4000" b="1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just"/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Чтобы округлить натуральное число, нужно отбросить все цифры, следующие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за</a:t>
            </a:r>
          </a:p>
          <a:p>
            <a:pPr algn="just"/>
            <a:endParaRPr lang="ru-RU" sz="3200" dirty="0">
              <a:latin typeface="Literaturnaya" panose="020B0604020202020204" charset="-52"/>
              <a:ea typeface="Literaturnaya" panose="020B0604020202020204" charset="-52"/>
            </a:endParaRPr>
          </a:p>
          <a:p>
            <a:pPr algn="just"/>
            <a:r>
              <a:rPr lang="ru-RU" sz="4000" b="1" dirty="0" err="1" smtClean="0">
                <a:latin typeface="Literaturnaya" panose="020B0604020202020204" charset="-52"/>
                <a:ea typeface="Literaturnaya" panose="020B0604020202020204" charset="-52"/>
              </a:rPr>
              <a:t>цифрҙарҙы</a:t>
            </a:r>
            <a:r>
              <a:rPr lang="ru-RU" sz="4000" b="1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төшөрөп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ҡалдырабыҙ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һәм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улар </a:t>
            </a:r>
            <a:r>
              <a:rPr lang="ru-RU" sz="4000" b="1" dirty="0" err="1" smtClean="0">
                <a:latin typeface="Literaturnaya" panose="020B0604020202020204" charset="-52"/>
                <a:ea typeface="Literaturnaya" panose="020B0604020202020204" charset="-52"/>
              </a:rPr>
              <a:t>урынына</a:t>
            </a:r>
            <a:r>
              <a:rPr lang="ru-RU" sz="4000" b="1" dirty="0" smtClean="0">
                <a:latin typeface="Literaturnaya" panose="020B0604020202020204" charset="-52"/>
                <a:ea typeface="Literaturnaya" panose="020B0604020202020204" charset="-52"/>
              </a:rPr>
              <a:t> 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нулдәр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 smtClean="0">
                <a:latin typeface="Literaturnaya" panose="020B0604020202020204" charset="-52"/>
                <a:ea typeface="Literaturnaya" panose="020B0604020202020204" charset="-52"/>
              </a:rPr>
              <a:t>яҙабыҙ</a:t>
            </a:r>
            <a:r>
              <a:rPr lang="ru-RU" sz="4000" b="1" dirty="0" smtClean="0">
                <a:latin typeface="Literaturnaya" panose="020B0604020202020204" charset="-52"/>
                <a:ea typeface="Literaturnaya" panose="020B0604020202020204" charset="-52"/>
              </a:rPr>
              <a:t>.</a:t>
            </a:r>
          </a:p>
          <a:p>
            <a:pPr algn="just"/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разрядом, до которого происходит округление, и записать вместо них нули.</a:t>
            </a:r>
            <a:endParaRPr lang="ru-RU" sz="3200" b="1" dirty="0">
              <a:latin typeface="Literaturnaya" panose="020B0604020202020204" charset="-52"/>
              <a:ea typeface="Literaturnaya" panose="020B0604020202020204" charset="-52"/>
            </a:endParaRPr>
          </a:p>
          <a:p>
            <a:pPr algn="just"/>
            <a:endParaRPr lang="ru-RU" sz="4000" b="1" dirty="0">
              <a:latin typeface="Literaturnaya" panose="020B0604020202020204" charset="-52"/>
              <a:ea typeface="Literaturnaya" panose="020B0604020202020204" charset="-52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әгәр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төшөрөлгән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цифрҙарҙың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һулдан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беренсеһе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0, 1, 2, 3, 4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булһа</a:t>
            </a:r>
            <a:r>
              <a:rPr lang="ru-RU" sz="4000" b="1" dirty="0" smtClean="0">
                <a:latin typeface="Literaturnaya" panose="020B0604020202020204" charset="-52"/>
                <a:ea typeface="Literaturnaya" panose="020B0604020202020204" charset="-52"/>
              </a:rPr>
              <a:t>, </a:t>
            </a:r>
            <a:r>
              <a:rPr lang="ru-RU" sz="4000" b="1" dirty="0" err="1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разрядты</a:t>
            </a:r>
            <a:endParaRPr lang="ru-RU" sz="4000" b="1" dirty="0" smtClean="0">
              <a:solidFill>
                <a:schemeClr val="accent6">
                  <a:lumMod val="75000"/>
                </a:schemeClr>
              </a:solidFill>
              <a:latin typeface="Literaturnaya" panose="020B0604020202020204" charset="-52"/>
              <a:ea typeface="Literaturnaya" panose="020B0604020202020204" charset="-52"/>
            </a:endParaRPr>
          </a:p>
          <a:p>
            <a:pPr algn="just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если первая слева цифра из отбрасываемых равна 0, 1, 2, 3, 4, то цифра, определяющая разряд, до </a:t>
            </a:r>
            <a:r>
              <a:rPr lang="ru-RU" sz="4000" b="1" dirty="0" err="1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билдәләгән</a:t>
            </a:r>
            <a:r>
              <a:rPr lang="ru-RU" sz="4000" b="1" dirty="0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 цифра </a:t>
            </a:r>
            <a:r>
              <a:rPr lang="ru-RU" sz="4000" b="1" dirty="0" err="1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үҙгәрмәй</a:t>
            </a:r>
            <a:r>
              <a:rPr lang="ru-RU" sz="4000" b="1" dirty="0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; </a:t>
            </a:r>
          </a:p>
          <a:p>
            <a:pPr algn="just"/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которого происходит округление, не меняется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;</a:t>
            </a:r>
          </a:p>
          <a:p>
            <a:pPr algn="just"/>
            <a:endParaRPr lang="ru-RU" sz="3200" b="1" dirty="0">
              <a:latin typeface="Literaturnaya" panose="020B0604020202020204" charset="-52"/>
              <a:ea typeface="Literaturnaya" panose="020B0604020202020204" charset="-52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4000" b="1" dirty="0" err="1" smtClean="0">
                <a:latin typeface="Literaturnaya" panose="020B0604020202020204" charset="-52"/>
                <a:ea typeface="Literaturnaya" panose="020B0604020202020204" charset="-52"/>
              </a:rPr>
              <a:t>әгәр</a:t>
            </a:r>
            <a:r>
              <a:rPr lang="ru-RU" sz="4000" b="1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төшөрөлгән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цифрҙарҙың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һулдан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беренсеһе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5, 6, 7, 8, 9 </a:t>
            </a:r>
            <a:r>
              <a:rPr lang="ru-RU" sz="4000" b="1" dirty="0" err="1">
                <a:latin typeface="Literaturnaya" panose="020B0604020202020204" charset="-52"/>
                <a:ea typeface="Literaturnaya" panose="020B0604020202020204" charset="-52"/>
              </a:rPr>
              <a:t>булһа</a:t>
            </a:r>
            <a:r>
              <a:rPr lang="ru-RU" sz="4000" b="1" dirty="0">
                <a:latin typeface="Literaturnaya" panose="020B0604020202020204" charset="-52"/>
                <a:ea typeface="Literaturnaya" panose="020B0604020202020204" charset="-52"/>
              </a:rPr>
              <a:t>, </a:t>
            </a:r>
            <a:r>
              <a:rPr lang="ru-RU" sz="4000" b="1" dirty="0" err="1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разрядты</a:t>
            </a:r>
            <a:endParaRPr lang="ru-RU" sz="4000" b="1" dirty="0" smtClean="0">
              <a:solidFill>
                <a:schemeClr val="accent6">
                  <a:lumMod val="75000"/>
                </a:schemeClr>
              </a:solidFill>
              <a:latin typeface="Literaturnaya" panose="020B0604020202020204" charset="-52"/>
              <a:ea typeface="Literaturnaya" panose="020B0604020202020204" charset="-52"/>
            </a:endParaRPr>
          </a:p>
          <a:p>
            <a:pPr algn="just"/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если первая слева цифра из отбрасываемых равна 5, 6, 7, 8, 9, то цифра, определяющая разряд, до </a:t>
            </a:r>
            <a:r>
              <a:rPr lang="ru-RU" sz="4000" b="1" dirty="0" err="1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билдәләгән</a:t>
            </a:r>
            <a:r>
              <a:rPr lang="ru-RU" sz="4000" b="1" dirty="0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цифра </a:t>
            </a:r>
            <a:r>
              <a:rPr lang="ru-RU" sz="4000" b="1" dirty="0" err="1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бергә</a:t>
            </a:r>
            <a:r>
              <a:rPr lang="ru-RU" sz="4000" b="1" dirty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000" b="1" dirty="0" err="1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арттырыла</a:t>
            </a:r>
            <a:r>
              <a:rPr lang="ru-RU" sz="4000" b="1" dirty="0" smtClean="0">
                <a:latin typeface="Literaturnaya" panose="020B0604020202020204" charset="-52"/>
                <a:ea typeface="Literaturnaya" panose="020B0604020202020204" charset="-52"/>
              </a:rPr>
              <a:t>.</a:t>
            </a:r>
          </a:p>
          <a:p>
            <a:pPr algn="just"/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которого происходит округление, увеличивается на единицу.</a:t>
            </a:r>
            <a:endParaRPr lang="ru-RU" sz="3200" b="1" dirty="0">
              <a:latin typeface="Literaturnaya" panose="020B0604020202020204" charset="-52"/>
              <a:ea typeface="Literaturnaya" panose="020B0604020202020204" charset="-52"/>
            </a:endParaRPr>
          </a:p>
          <a:p>
            <a:pPr algn="just"/>
            <a:endParaRPr lang="ru-RU" sz="4000" b="1" dirty="0">
              <a:latin typeface="Literaturnaya" panose="020B0604020202020204" charset="-52"/>
              <a:ea typeface="Literaturnaya" panose="020B0604020202020204" charset="-52"/>
            </a:endParaRPr>
          </a:p>
          <a:p>
            <a:endParaRPr lang="ru-RU" sz="5400" dirty="0">
              <a:latin typeface="Literaturnaya" panose="020B0604020202020204" charset="-52"/>
              <a:ea typeface="Literaturnaya" panose="020B0604020202020204" charset="-52"/>
            </a:endParaRPr>
          </a:p>
          <a:p>
            <a:endParaRPr lang="ru-RU" sz="5400" dirty="0">
              <a:latin typeface="Literaturnaya" panose="020B0604020202020204" charset="-52"/>
              <a:ea typeface="Literaturnaya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4361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4390" y="-342900"/>
            <a:ext cx="22772122" cy="11755210"/>
            <a:chOff x="0" y="0"/>
            <a:chExt cx="30362829" cy="15673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4" y="0"/>
                  </a:lnTo>
                  <a:lnTo>
                    <a:pt x="15200674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162156" y="47294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3" y="0"/>
                  </a:lnTo>
                  <a:lnTo>
                    <a:pt x="15200673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05125">
            <a:off x="-29843" y="628291"/>
            <a:ext cx="9301555" cy="9765491"/>
          </a:xfrm>
          <a:custGeom>
            <a:avLst/>
            <a:gdLst/>
            <a:ahLst/>
            <a:cxnLst/>
            <a:rect l="l" t="t" r="r" b="b"/>
            <a:pathLst>
              <a:path w="8240909" h="8261563">
                <a:moveTo>
                  <a:pt x="0" y="0"/>
                </a:moveTo>
                <a:lnTo>
                  <a:pt x="8240909" y="0"/>
                </a:lnTo>
                <a:lnTo>
                  <a:pt x="8240909" y="8261563"/>
                </a:lnTo>
                <a:lnTo>
                  <a:pt x="0" y="8261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innerShdw blurRad="63500" dist="50800" dir="2700000">
              <a:prstClr val="black">
                <a:alpha val="50000"/>
              </a:prstClr>
            </a:innerShdw>
          </a:effectLst>
        </p:spPr>
      </p:sp>
      <p:sp>
        <p:nvSpPr>
          <p:cNvPr id="6" name="Freeform 6"/>
          <p:cNvSpPr/>
          <p:nvPr/>
        </p:nvSpPr>
        <p:spPr>
          <a:xfrm rot="399696">
            <a:off x="4571719" y="512722"/>
            <a:ext cx="668482" cy="1114137"/>
          </a:xfrm>
          <a:custGeom>
            <a:avLst/>
            <a:gdLst/>
            <a:ahLst/>
            <a:cxnLst/>
            <a:rect l="l" t="t" r="r" b="b"/>
            <a:pathLst>
              <a:path w="668482" h="1114137">
                <a:moveTo>
                  <a:pt x="0" y="0"/>
                </a:moveTo>
                <a:lnTo>
                  <a:pt x="668482" y="0"/>
                </a:lnTo>
                <a:lnTo>
                  <a:pt x="668482" y="1114137"/>
                </a:lnTo>
                <a:lnTo>
                  <a:pt x="0" y="11141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30077" y="1662938"/>
            <a:ext cx="7558549" cy="6617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7200" b="1" u="sng" dirty="0">
                <a:latin typeface="Literaturnaya" panose="020B0604020202020204" charset="-52"/>
                <a:ea typeface="Literaturnaya" panose="020B0604020202020204" charset="-52"/>
              </a:rPr>
              <a:t>Ҡағиҙә</a:t>
            </a:r>
            <a:r>
              <a:rPr lang="ru-RU" sz="7200" b="1" u="sng" dirty="0" smtClean="0">
                <a:latin typeface="Literaturnaya" panose="020B0604020202020204" charset="-52"/>
                <a:ea typeface="Literaturnaya" panose="020B0604020202020204" charset="-52"/>
              </a:rPr>
              <a:t>:</a:t>
            </a:r>
          </a:p>
          <a:p>
            <a:pPr algn="ctr"/>
            <a:r>
              <a:rPr lang="ru-RU" sz="4000" dirty="0" smtClean="0">
                <a:latin typeface="Literaturnaya" panose="020B0604020202020204" charset="-52"/>
                <a:ea typeface="Literaturnaya" panose="020B0604020202020204" charset="-52"/>
              </a:rPr>
              <a:t>правило:</a:t>
            </a:r>
          </a:p>
          <a:p>
            <a:pPr algn="ctr"/>
            <a:endParaRPr lang="ru-RU" sz="4000" dirty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7200" b="1" dirty="0">
                <a:latin typeface="Literaturnaya" panose="020B0604020202020204" charset="-52"/>
                <a:ea typeface="Literaturnaya" panose="020B0604020202020204" charset="-52"/>
              </a:rPr>
              <a:t>0–4</a:t>
            </a:r>
            <a:r>
              <a:rPr lang="ru-RU" sz="7200" dirty="0">
                <a:latin typeface="Literaturnaya" panose="020B0604020202020204" charset="-52"/>
                <a:ea typeface="Literaturnaya" panose="020B0604020202020204" charset="-52"/>
              </a:rPr>
              <a:t> → </a:t>
            </a:r>
            <a:r>
              <a:rPr lang="ru-RU" sz="7200" dirty="0" err="1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үҙгәрмәй</a:t>
            </a:r>
            <a:endParaRPr lang="ru-RU" sz="7200" dirty="0" smtClean="0">
              <a:solidFill>
                <a:schemeClr val="accent6">
                  <a:lumMod val="75000"/>
                </a:schemeClr>
              </a:solidFill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4000" dirty="0">
                <a:latin typeface="Literaturnaya" panose="020B0604020202020204" charset="-52"/>
                <a:ea typeface="Literaturnaya" panose="020B0604020202020204" charset="-52"/>
              </a:rPr>
              <a:t>0–4 → без </a:t>
            </a:r>
            <a:r>
              <a:rPr lang="ru-RU" sz="4000" dirty="0" smtClean="0">
                <a:latin typeface="Literaturnaya" panose="020B0604020202020204" charset="-52"/>
                <a:ea typeface="Literaturnaya" panose="020B0604020202020204" charset="-52"/>
              </a:rPr>
              <a:t>изменений</a:t>
            </a:r>
          </a:p>
          <a:p>
            <a:pPr algn="ctr"/>
            <a:r>
              <a:rPr lang="ru-RU" sz="4000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endParaRPr lang="ru-RU" sz="4000" dirty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7200" b="1" dirty="0">
                <a:latin typeface="Literaturnaya" panose="020B0604020202020204" charset="-52"/>
                <a:ea typeface="Literaturnaya" panose="020B0604020202020204" charset="-52"/>
              </a:rPr>
              <a:t>5–9</a:t>
            </a:r>
            <a:r>
              <a:rPr lang="ru-RU" sz="7200" dirty="0">
                <a:latin typeface="Literaturnaya" panose="020B0604020202020204" charset="-52"/>
                <a:ea typeface="Literaturnaya" panose="020B0604020202020204" charset="-52"/>
              </a:rPr>
              <a:t> → </a:t>
            </a:r>
            <a:r>
              <a:rPr lang="ru-RU" sz="7200" dirty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+</a:t>
            </a:r>
            <a:r>
              <a:rPr lang="ru-RU" sz="7200" dirty="0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1</a:t>
            </a:r>
          </a:p>
          <a:p>
            <a:pPr algn="ctr"/>
            <a:r>
              <a:rPr lang="ru-RU" sz="4000" dirty="0">
                <a:latin typeface="Literaturnaya" panose="020B0604020202020204" charset="-52"/>
                <a:ea typeface="Literaturnaya" panose="020B0604020202020204" charset="-52"/>
              </a:rPr>
              <a:t>5–9 → +1</a:t>
            </a:r>
            <a:endParaRPr lang="ru-RU" sz="4000" dirty="0">
              <a:solidFill>
                <a:schemeClr val="accent6">
                  <a:lumMod val="75000"/>
                </a:schemeClr>
              </a:solidFill>
              <a:latin typeface="Literaturnaya" panose="020B0604020202020204" charset="-52"/>
              <a:ea typeface="Literaturnaya" panose="020B0604020202020204" charset="-52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9927933" y="1661872"/>
            <a:ext cx="7558549" cy="592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8"/>
              </a:lnSpc>
            </a:pPr>
            <a:r>
              <a:rPr lang="ru-RU" sz="8000" b="1" u="sng" dirty="0" err="1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Мисалдар</a:t>
            </a:r>
            <a:r>
              <a:rPr lang="ru-RU" sz="8000" b="1" u="sng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:</a:t>
            </a:r>
          </a:p>
          <a:p>
            <a:pPr algn="ctr">
              <a:lnSpc>
                <a:spcPts val="4208"/>
              </a:lnSpc>
            </a:pPr>
            <a:r>
              <a:rPr lang="ru-RU" sz="8000" b="1" dirty="0" smtClean="0">
                <a:solidFill>
                  <a:srgbClr val="FF0000"/>
                </a:solidFill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 </a:t>
            </a:r>
            <a:r>
              <a:rPr lang="ru-RU" sz="4000" b="1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Пример</a:t>
            </a:r>
            <a:endParaRPr lang="ru-RU" sz="8000" b="1" dirty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ru-RU" sz="6600" b="1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marL="1143000" indent="-1143000" algn="ctr">
              <a:lnSpc>
                <a:spcPts val="4208"/>
              </a:lnSpc>
              <a:buAutoNum type="arabicPeriod"/>
            </a:pPr>
            <a:r>
              <a:rPr lang="ru-RU" sz="6000" dirty="0" smtClean="0">
                <a:latin typeface="Literaturnaya" panose="020B0604020202020204" charset="-52"/>
                <a:ea typeface="Literaturnaya" panose="020B0604020202020204" charset="-52"/>
              </a:rPr>
              <a:t>4</a:t>
            </a:r>
            <a:r>
              <a:rPr lang="ru-RU" sz="6000" dirty="0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7</a:t>
            </a:r>
            <a:r>
              <a:rPr lang="ru-RU" sz="6000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6000" dirty="0">
                <a:latin typeface="Literaturnaya" panose="020B0604020202020204" charset="-52"/>
                <a:ea typeface="Literaturnaya" panose="020B0604020202020204" charset="-52"/>
              </a:rPr>
              <a:t>≈ </a:t>
            </a:r>
            <a:r>
              <a:rPr lang="ru-RU" sz="6000" dirty="0" smtClean="0">
                <a:latin typeface="Literaturnaya" panose="020B0604020202020204" charset="-52"/>
                <a:ea typeface="Literaturnaya" panose="020B0604020202020204" charset="-52"/>
              </a:rPr>
              <a:t>50</a:t>
            </a:r>
          </a:p>
          <a:p>
            <a:pPr marL="1143000" indent="-1143000" algn="ctr">
              <a:lnSpc>
                <a:spcPts val="4208"/>
              </a:lnSpc>
              <a:buAutoNum type="arabicPeriod"/>
            </a:pPr>
            <a:endParaRPr lang="ru-RU" sz="60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>
              <a:lnSpc>
                <a:spcPts val="4208"/>
              </a:lnSpc>
            </a:pPr>
            <a:r>
              <a:rPr lang="ru-RU" sz="6000" dirty="0" smtClean="0">
                <a:latin typeface="Literaturnaya" panose="020B0604020202020204" charset="-52"/>
                <a:ea typeface="Literaturnaya" panose="020B0604020202020204" charset="-52"/>
              </a:rPr>
              <a:t>2. 12</a:t>
            </a:r>
            <a:r>
              <a:rPr lang="ru-RU" sz="6000" dirty="0" smtClean="0">
                <a:solidFill>
                  <a:schemeClr val="accent6">
                    <a:lumMod val="75000"/>
                  </a:schemeClr>
                </a:solidFill>
                <a:latin typeface="Literaturnaya" panose="020B0604020202020204" charset="-52"/>
                <a:ea typeface="Literaturnaya" panose="020B0604020202020204" charset="-52"/>
              </a:rPr>
              <a:t>3</a:t>
            </a:r>
            <a:r>
              <a:rPr lang="ru-RU" sz="6000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6000" dirty="0">
                <a:latin typeface="Literaturnaya" panose="020B0604020202020204" charset="-52"/>
                <a:ea typeface="Literaturnaya" panose="020B0604020202020204" charset="-52"/>
              </a:rPr>
              <a:t>≈ </a:t>
            </a:r>
            <a:r>
              <a:rPr lang="ru-RU" sz="6000" dirty="0" smtClean="0">
                <a:latin typeface="Literaturnaya" panose="020B0604020202020204" charset="-52"/>
                <a:ea typeface="Literaturnaya" panose="020B0604020202020204" charset="-52"/>
              </a:rPr>
              <a:t>120</a:t>
            </a:r>
          </a:p>
          <a:p>
            <a:pPr algn="ctr">
              <a:lnSpc>
                <a:spcPts val="4208"/>
              </a:lnSpc>
            </a:pPr>
            <a:endParaRPr lang="ru-RU" sz="60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>
              <a:lnSpc>
                <a:spcPts val="4208"/>
              </a:lnSpc>
            </a:pPr>
            <a:r>
              <a:rPr lang="ru-RU" sz="6000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3. 364 </a:t>
            </a:r>
            <a:r>
              <a:rPr lang="ru-RU" sz="6000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≈ </a:t>
            </a:r>
            <a:r>
              <a:rPr lang="ru-RU" sz="6000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400</a:t>
            </a:r>
          </a:p>
          <a:p>
            <a:pPr algn="ctr">
              <a:lnSpc>
                <a:spcPts val="4208"/>
              </a:lnSpc>
            </a:pPr>
            <a:endParaRPr lang="ru-RU" sz="6000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r>
              <a:rPr lang="ru-RU" sz="6000" dirty="0" smtClean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4. 2478 </a:t>
            </a:r>
            <a:r>
              <a:rPr lang="ru-RU" sz="6000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≈ 2 500</a:t>
            </a:r>
            <a:endParaRPr lang="ru-RU" sz="6000" dirty="0" smtClean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  <a:p>
            <a:pPr algn="ctr">
              <a:lnSpc>
                <a:spcPts val="4208"/>
              </a:lnSpc>
            </a:pPr>
            <a:endParaRPr lang="ru-RU" sz="6600" b="1" dirty="0">
              <a:latin typeface="Literaturnaya" panose="020B0604020202020204" charset="-52"/>
              <a:ea typeface="Literaturnaya" panose="020B0604020202020204" charset="-52"/>
              <a:cs typeface="Open Sauce"/>
              <a:sym typeface="Open Sauce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6776" y="8124591"/>
            <a:ext cx="1864417" cy="186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15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4390" y="-342900"/>
            <a:ext cx="22772122" cy="11755210"/>
            <a:chOff x="0" y="0"/>
            <a:chExt cx="30362829" cy="15673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4" y="0"/>
                  </a:lnTo>
                  <a:lnTo>
                    <a:pt x="15200674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162156" y="47294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3" y="0"/>
                  </a:lnTo>
                  <a:lnTo>
                    <a:pt x="15200673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05125">
            <a:off x="3239607" y="569608"/>
            <a:ext cx="11684468" cy="10051707"/>
          </a:xfrm>
          <a:custGeom>
            <a:avLst/>
            <a:gdLst/>
            <a:ahLst/>
            <a:cxnLst/>
            <a:rect l="l" t="t" r="r" b="b"/>
            <a:pathLst>
              <a:path w="8240909" h="8261563">
                <a:moveTo>
                  <a:pt x="0" y="0"/>
                </a:moveTo>
                <a:lnTo>
                  <a:pt x="8240909" y="0"/>
                </a:lnTo>
                <a:lnTo>
                  <a:pt x="8240909" y="8261563"/>
                </a:lnTo>
                <a:lnTo>
                  <a:pt x="0" y="8261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innerShdw blurRad="63500" dist="50800" dir="2700000">
              <a:prstClr val="black">
                <a:alpha val="50000"/>
              </a:prstClr>
            </a:innerShdw>
          </a:effectLst>
        </p:spPr>
      </p:sp>
      <p:sp>
        <p:nvSpPr>
          <p:cNvPr id="6" name="Freeform 6"/>
          <p:cNvSpPr/>
          <p:nvPr/>
        </p:nvSpPr>
        <p:spPr>
          <a:xfrm rot="399696">
            <a:off x="9239036" y="487734"/>
            <a:ext cx="668482" cy="1114137"/>
          </a:xfrm>
          <a:custGeom>
            <a:avLst/>
            <a:gdLst/>
            <a:ahLst/>
            <a:cxnLst/>
            <a:rect l="l" t="t" r="r" b="b"/>
            <a:pathLst>
              <a:path w="668482" h="1114137">
                <a:moveTo>
                  <a:pt x="0" y="0"/>
                </a:moveTo>
                <a:lnTo>
                  <a:pt x="668482" y="0"/>
                </a:lnTo>
                <a:lnTo>
                  <a:pt x="668482" y="1114137"/>
                </a:lnTo>
                <a:lnTo>
                  <a:pt x="0" y="11141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302568" y="1409700"/>
            <a:ext cx="7558549" cy="8371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4800" b="1" u="sng" dirty="0" err="1">
                <a:latin typeface="Literaturnaya" panose="020B0604020202020204" charset="-52"/>
                <a:ea typeface="Literaturnaya" panose="020B0604020202020204" charset="-52"/>
              </a:rPr>
              <a:t>Һандарҙы</a:t>
            </a:r>
            <a:r>
              <a:rPr lang="ru-RU" sz="4800" b="1" u="sng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800" b="1" u="sng" dirty="0" err="1" smtClean="0">
                <a:latin typeface="Literaturnaya" panose="020B0604020202020204" charset="-52"/>
                <a:ea typeface="Literaturnaya" panose="020B0604020202020204" charset="-52"/>
              </a:rPr>
              <a:t>сағыштырығыҙ</a:t>
            </a:r>
            <a:r>
              <a:rPr lang="ru-RU" sz="4800" b="1" u="sng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3600" dirty="0">
                <a:latin typeface="Literaturnaya" panose="020B0604020202020204" charset="-52"/>
                <a:ea typeface="Literaturnaya" panose="020B0604020202020204" charset="-52"/>
              </a:rPr>
              <a:t>Сравните </a:t>
            </a:r>
            <a:r>
              <a:rPr lang="ru-RU" sz="3600" dirty="0" smtClean="0">
                <a:latin typeface="Literaturnaya" panose="020B0604020202020204" charset="-52"/>
                <a:ea typeface="Literaturnaya" panose="020B0604020202020204" charset="-52"/>
              </a:rPr>
              <a:t>числа</a:t>
            </a:r>
          </a:p>
          <a:p>
            <a:pPr algn="ctr"/>
            <a:endParaRPr lang="ru-RU" sz="36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4400" dirty="0">
                <a:latin typeface="Literaturnaya" panose="020B0604020202020204" charset="-52"/>
                <a:ea typeface="Literaturnaya" panose="020B0604020202020204" charset="-52"/>
              </a:rPr>
              <a:t>345 </a:t>
            </a:r>
            <a:r>
              <a:rPr lang="ru-RU" sz="44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 </a:t>
            </a:r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354</a:t>
            </a:r>
          </a:p>
          <a:p>
            <a:pPr algn="ctr"/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678 </a:t>
            </a:r>
            <a:r>
              <a:rPr lang="ru-RU" sz="44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</a:t>
            </a:r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 687</a:t>
            </a:r>
          </a:p>
          <a:p>
            <a:pPr algn="ctr"/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900 </a:t>
            </a:r>
            <a:r>
              <a:rPr lang="ru-RU" sz="44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</a:t>
            </a:r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 899</a:t>
            </a:r>
          </a:p>
          <a:p>
            <a:pPr algn="ctr"/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432 </a:t>
            </a:r>
            <a:r>
              <a:rPr lang="ru-RU" sz="44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</a:t>
            </a:r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 432</a:t>
            </a:r>
          </a:p>
          <a:p>
            <a:pPr algn="ctr"/>
            <a:r>
              <a:rPr lang="ru-RU" sz="4400" dirty="0">
                <a:latin typeface="Literaturnaya" panose="020B0604020202020204" charset="-52"/>
                <a:ea typeface="Literaturnaya" panose="020B0604020202020204" charset="-52"/>
              </a:rPr>
              <a:t>56 </a:t>
            </a:r>
            <a:r>
              <a:rPr lang="ru-RU" sz="44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 </a:t>
            </a:r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651</a:t>
            </a:r>
          </a:p>
          <a:p>
            <a:pPr algn="ctr"/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20 </a:t>
            </a:r>
            <a:r>
              <a:rPr lang="ru-RU" sz="44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</a:t>
            </a:r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 102</a:t>
            </a:r>
          </a:p>
          <a:p>
            <a:pPr algn="ctr"/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777 </a:t>
            </a:r>
            <a:r>
              <a:rPr lang="ru-RU" sz="44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</a:t>
            </a:r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 777</a:t>
            </a:r>
          </a:p>
          <a:p>
            <a:pPr algn="ctr"/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81 </a:t>
            </a:r>
            <a:r>
              <a:rPr lang="ru-RU" sz="4400" b="1" dirty="0">
                <a:latin typeface="Literaturnaya" panose="020B0604020202020204" charset="-52"/>
                <a:ea typeface="Literaturnaya" panose="020B0604020202020204" charset="-52"/>
                <a:cs typeface="Open Sauce"/>
                <a:sym typeface="Open Sauce"/>
              </a:rPr>
              <a:t>__</a:t>
            </a:r>
            <a:r>
              <a:rPr lang="ru-RU" sz="4400" dirty="0" smtClean="0">
                <a:latin typeface="Literaturnaya" panose="020B0604020202020204" charset="-52"/>
                <a:ea typeface="Literaturnaya" panose="020B0604020202020204" charset="-52"/>
              </a:rPr>
              <a:t> 18</a:t>
            </a:r>
          </a:p>
          <a:p>
            <a:pPr algn="ctr"/>
            <a:endParaRPr lang="ru-RU" sz="36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endParaRPr lang="ru-RU" sz="3600" dirty="0" smtClean="0">
              <a:latin typeface="Literaturnaya" panose="020B0604020202020204" charset="-52"/>
              <a:ea typeface="Literaturnaya" panose="020B0604020202020204" charset="-52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49" y="8032172"/>
            <a:ext cx="1864417" cy="186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2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4390" y="-342900"/>
            <a:ext cx="22772122" cy="11755210"/>
            <a:chOff x="0" y="0"/>
            <a:chExt cx="30362829" cy="15673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4" y="0"/>
                  </a:lnTo>
                  <a:lnTo>
                    <a:pt x="15200674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162156" y="47294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3" y="0"/>
                  </a:lnTo>
                  <a:lnTo>
                    <a:pt x="15200673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05125">
            <a:off x="2808454" y="487906"/>
            <a:ext cx="12108196" cy="10311508"/>
          </a:xfrm>
          <a:custGeom>
            <a:avLst/>
            <a:gdLst/>
            <a:ahLst/>
            <a:cxnLst/>
            <a:rect l="l" t="t" r="r" b="b"/>
            <a:pathLst>
              <a:path w="8240909" h="8261563">
                <a:moveTo>
                  <a:pt x="0" y="0"/>
                </a:moveTo>
                <a:lnTo>
                  <a:pt x="8240909" y="0"/>
                </a:lnTo>
                <a:lnTo>
                  <a:pt x="8240909" y="8261563"/>
                </a:lnTo>
                <a:lnTo>
                  <a:pt x="0" y="8261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innerShdw blurRad="63500" dist="50800" dir="2700000">
              <a:prstClr val="black">
                <a:alpha val="50000"/>
              </a:prstClr>
            </a:innerShdw>
          </a:effectLst>
        </p:spPr>
      </p:sp>
      <p:sp>
        <p:nvSpPr>
          <p:cNvPr id="6" name="Freeform 6"/>
          <p:cNvSpPr/>
          <p:nvPr/>
        </p:nvSpPr>
        <p:spPr>
          <a:xfrm rot="399696">
            <a:off x="9239036" y="487734"/>
            <a:ext cx="668482" cy="1114137"/>
          </a:xfrm>
          <a:custGeom>
            <a:avLst/>
            <a:gdLst/>
            <a:ahLst/>
            <a:cxnLst/>
            <a:rect l="l" t="t" r="r" b="b"/>
            <a:pathLst>
              <a:path w="668482" h="1114137">
                <a:moveTo>
                  <a:pt x="0" y="0"/>
                </a:moveTo>
                <a:lnTo>
                  <a:pt x="668482" y="0"/>
                </a:lnTo>
                <a:lnTo>
                  <a:pt x="668482" y="1114137"/>
                </a:lnTo>
                <a:lnTo>
                  <a:pt x="0" y="11141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86200" y="1409700"/>
            <a:ext cx="9952705" cy="8925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4400" b="1" u="sng" dirty="0" err="1">
                <a:latin typeface="Literaturnaya" panose="020B0604020202020204" charset="-52"/>
                <a:ea typeface="Literaturnaya" panose="020B0604020202020204" charset="-52"/>
              </a:rPr>
              <a:t>Һандарҙы</a:t>
            </a:r>
            <a:r>
              <a:rPr lang="ru-RU" sz="4400" b="1" u="sng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400" b="1" u="sng" dirty="0" err="1" smtClean="0">
                <a:latin typeface="Literaturnaya" panose="020B0604020202020204" charset="-52"/>
                <a:ea typeface="Literaturnaya" panose="020B0604020202020204" charset="-52"/>
              </a:rPr>
              <a:t>яҡынлаштырығыҙ</a:t>
            </a:r>
            <a:endParaRPr lang="ru-RU" sz="4400" b="1" u="sng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3600" dirty="0" smtClean="0">
                <a:latin typeface="Literaturnaya" panose="020B0604020202020204" charset="-52"/>
                <a:ea typeface="Literaturnaya" panose="020B0604020202020204" charset="-52"/>
              </a:rPr>
              <a:t>Округлите числа</a:t>
            </a:r>
          </a:p>
          <a:p>
            <a:pPr algn="ctr"/>
            <a:endParaRPr lang="ru-RU" sz="24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endParaRPr lang="ru-RU" sz="24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47 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52 </a:t>
            </a:r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89 </a:t>
            </a:r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31 </a:t>
            </a:r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145 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267 </a:t>
            </a:r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389 </a:t>
            </a:r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412 </a:t>
            </a:r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1 234 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2 </a:t>
            </a:r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678 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3 </a:t>
            </a:r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499 →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___</a:t>
            </a:r>
          </a:p>
          <a:p>
            <a:pPr algn="ctr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5 </a:t>
            </a:r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501 → ___</a:t>
            </a:r>
            <a:endParaRPr lang="ru-RU" sz="32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endParaRPr lang="ru-RU" sz="32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endParaRPr lang="ru-RU" sz="3600" dirty="0" smtClean="0">
              <a:latin typeface="Literaturnaya" panose="020B0604020202020204" charset="-52"/>
              <a:ea typeface="Literaturnaya" panose="020B0604020202020204" charset="-52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49" y="8032172"/>
            <a:ext cx="1864417" cy="186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33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4390" y="-342900"/>
            <a:ext cx="22772122" cy="11755210"/>
            <a:chOff x="0" y="0"/>
            <a:chExt cx="30362829" cy="15673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4" y="0"/>
                  </a:lnTo>
                  <a:lnTo>
                    <a:pt x="15200674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162156" y="47294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3" y="0"/>
                  </a:lnTo>
                  <a:lnTo>
                    <a:pt x="15200673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05125">
            <a:off x="3111266" y="331499"/>
            <a:ext cx="11684468" cy="10051707"/>
          </a:xfrm>
          <a:custGeom>
            <a:avLst/>
            <a:gdLst/>
            <a:ahLst/>
            <a:cxnLst/>
            <a:rect l="l" t="t" r="r" b="b"/>
            <a:pathLst>
              <a:path w="8240909" h="8261563">
                <a:moveTo>
                  <a:pt x="0" y="0"/>
                </a:moveTo>
                <a:lnTo>
                  <a:pt x="8240909" y="0"/>
                </a:lnTo>
                <a:lnTo>
                  <a:pt x="8240909" y="8261563"/>
                </a:lnTo>
                <a:lnTo>
                  <a:pt x="0" y="8261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innerShdw blurRad="63500" dist="50800" dir="2700000">
              <a:prstClr val="black">
                <a:alpha val="50000"/>
              </a:prstClr>
            </a:innerShdw>
          </a:effectLst>
        </p:spPr>
      </p:sp>
      <p:sp>
        <p:nvSpPr>
          <p:cNvPr id="6" name="Freeform 6"/>
          <p:cNvSpPr/>
          <p:nvPr/>
        </p:nvSpPr>
        <p:spPr>
          <a:xfrm rot="399696">
            <a:off x="9239036" y="487734"/>
            <a:ext cx="668482" cy="1114137"/>
          </a:xfrm>
          <a:custGeom>
            <a:avLst/>
            <a:gdLst/>
            <a:ahLst/>
            <a:cxnLst/>
            <a:rect l="l" t="t" r="r" b="b"/>
            <a:pathLst>
              <a:path w="668482" h="1114137">
                <a:moveTo>
                  <a:pt x="0" y="0"/>
                </a:moveTo>
                <a:lnTo>
                  <a:pt x="668482" y="0"/>
                </a:lnTo>
                <a:lnTo>
                  <a:pt x="668482" y="1114137"/>
                </a:lnTo>
                <a:lnTo>
                  <a:pt x="0" y="11141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38329" y="1651445"/>
            <a:ext cx="7772400" cy="67095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4400" b="1" u="sng" dirty="0" err="1">
                <a:latin typeface="Literaturnaya" panose="020B0604020202020204" charset="-52"/>
                <a:ea typeface="Literaturnaya" panose="020B0604020202020204" charset="-52"/>
              </a:rPr>
              <a:t>Ҡатнаш</a:t>
            </a:r>
            <a:r>
              <a:rPr lang="ru-RU" sz="4400" b="1" u="sng" dirty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400" b="1" u="sng" dirty="0" err="1" smtClean="0">
                <a:latin typeface="Literaturnaya" panose="020B0604020202020204" charset="-52"/>
                <a:ea typeface="Literaturnaya" panose="020B0604020202020204" charset="-52"/>
              </a:rPr>
              <a:t>бирем</a:t>
            </a:r>
            <a:r>
              <a:rPr lang="ru-RU" sz="4400" b="1" u="sng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</a:p>
          <a:p>
            <a:pPr algn="ctr"/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Смешанное задание</a:t>
            </a:r>
            <a:endParaRPr lang="ru-RU" sz="16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endParaRPr lang="ru-RU" sz="24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1. 345 </a:t>
            </a:r>
            <a:r>
              <a:rPr lang="ru-RU" sz="4800" dirty="0">
                <a:latin typeface="Literaturnaya" panose="020B0604020202020204" charset="-52"/>
                <a:ea typeface="Literaturnaya" panose="020B0604020202020204" charset="-52"/>
              </a:rPr>
              <a:t>__ 354, </a:t>
            </a:r>
            <a:endParaRPr lang="ru-RU" sz="48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345 </a:t>
            </a:r>
            <a:r>
              <a:rPr lang="ru-RU" sz="4800" dirty="0">
                <a:latin typeface="Literaturnaya" panose="020B0604020202020204" charset="-52"/>
                <a:ea typeface="Literaturnaya" panose="020B0604020202020204" charset="-52"/>
              </a:rPr>
              <a:t>→ ___ (</a:t>
            </a:r>
            <a:r>
              <a:rPr lang="ru-RU" sz="4800" dirty="0" err="1">
                <a:latin typeface="Literaturnaya" panose="020B0604020202020204" charset="-52"/>
                <a:ea typeface="Literaturnaya" panose="020B0604020202020204" charset="-52"/>
              </a:rPr>
              <a:t>унлыҡ</a:t>
            </a:r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)</a:t>
            </a:r>
          </a:p>
          <a:p>
            <a:endParaRPr lang="ru-RU" sz="48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2. 678 </a:t>
            </a:r>
            <a:r>
              <a:rPr lang="ru-RU" sz="4800" dirty="0">
                <a:latin typeface="Literaturnaya" panose="020B0604020202020204" charset="-52"/>
                <a:ea typeface="Literaturnaya" panose="020B0604020202020204" charset="-52"/>
              </a:rPr>
              <a:t>__ 700, </a:t>
            </a:r>
            <a:endParaRPr lang="ru-RU" sz="48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678 </a:t>
            </a:r>
            <a:r>
              <a:rPr lang="ru-RU" sz="4800" dirty="0">
                <a:latin typeface="Literaturnaya" panose="020B0604020202020204" charset="-52"/>
                <a:ea typeface="Literaturnaya" panose="020B0604020202020204" charset="-52"/>
              </a:rPr>
              <a:t>→ ___ (</a:t>
            </a:r>
            <a:r>
              <a:rPr lang="ru-RU" sz="4800" dirty="0" err="1">
                <a:latin typeface="Literaturnaya" panose="020B0604020202020204" charset="-52"/>
                <a:ea typeface="Literaturnaya" panose="020B0604020202020204" charset="-52"/>
              </a:rPr>
              <a:t>йөзлек</a:t>
            </a:r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)</a:t>
            </a:r>
          </a:p>
          <a:p>
            <a:endParaRPr lang="ru-RU" sz="48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3. 1 </a:t>
            </a:r>
            <a:r>
              <a:rPr lang="ru-RU" sz="4800" dirty="0">
                <a:latin typeface="Literaturnaya" panose="020B0604020202020204" charset="-52"/>
                <a:ea typeface="Literaturnaya" panose="020B0604020202020204" charset="-52"/>
              </a:rPr>
              <a:t>245 → ___ (</a:t>
            </a:r>
            <a:r>
              <a:rPr lang="ru-RU" sz="4800" dirty="0" err="1">
                <a:latin typeface="Literaturnaya" panose="020B0604020202020204" charset="-52"/>
                <a:ea typeface="Literaturnaya" panose="020B0604020202020204" charset="-52"/>
              </a:rPr>
              <a:t>меңлек</a:t>
            </a:r>
            <a:r>
              <a:rPr lang="ru-RU" sz="4800" dirty="0">
                <a:latin typeface="Literaturnaya" panose="020B0604020202020204" charset="-52"/>
                <a:ea typeface="Literaturnaya" panose="020B0604020202020204" charset="-52"/>
              </a:rPr>
              <a:t>)</a:t>
            </a:r>
            <a:endParaRPr lang="ru-RU" sz="3600" dirty="0" smtClean="0">
              <a:latin typeface="Literaturnaya" panose="020B0604020202020204" charset="-52"/>
              <a:ea typeface="Literaturnaya" panose="020B0604020202020204" charset="-52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49" y="8032172"/>
            <a:ext cx="1864417" cy="186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59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4390" y="-342900"/>
            <a:ext cx="22772122" cy="11755210"/>
            <a:chOff x="0" y="0"/>
            <a:chExt cx="30362829" cy="15673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4" y="0"/>
                  </a:lnTo>
                  <a:lnTo>
                    <a:pt x="15200674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162156" y="472940"/>
              <a:ext cx="15200674" cy="15200674"/>
            </a:xfrm>
            <a:custGeom>
              <a:avLst/>
              <a:gdLst/>
              <a:ahLst/>
              <a:cxnLst/>
              <a:rect l="l" t="t" r="r" b="b"/>
              <a:pathLst>
                <a:path w="15200674" h="15200674">
                  <a:moveTo>
                    <a:pt x="0" y="0"/>
                  </a:moveTo>
                  <a:lnTo>
                    <a:pt x="15200673" y="0"/>
                  </a:lnTo>
                  <a:lnTo>
                    <a:pt x="15200673" y="15200674"/>
                  </a:lnTo>
                  <a:lnTo>
                    <a:pt x="0" y="1520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05125">
            <a:off x="3334435" y="686203"/>
            <a:ext cx="11684468" cy="10051707"/>
          </a:xfrm>
          <a:custGeom>
            <a:avLst/>
            <a:gdLst/>
            <a:ahLst/>
            <a:cxnLst/>
            <a:rect l="l" t="t" r="r" b="b"/>
            <a:pathLst>
              <a:path w="8240909" h="8261563">
                <a:moveTo>
                  <a:pt x="0" y="0"/>
                </a:moveTo>
                <a:lnTo>
                  <a:pt x="8240909" y="0"/>
                </a:lnTo>
                <a:lnTo>
                  <a:pt x="8240909" y="8261563"/>
                </a:lnTo>
                <a:lnTo>
                  <a:pt x="0" y="8261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innerShdw blurRad="63500" dist="50800" dir="2700000">
              <a:prstClr val="black">
                <a:alpha val="50000"/>
              </a:prstClr>
            </a:innerShdw>
          </a:effectLst>
        </p:spPr>
      </p:sp>
      <p:sp>
        <p:nvSpPr>
          <p:cNvPr id="6" name="Freeform 6"/>
          <p:cNvSpPr/>
          <p:nvPr/>
        </p:nvSpPr>
        <p:spPr>
          <a:xfrm rot="399696">
            <a:off x="9239036" y="487734"/>
            <a:ext cx="668482" cy="1114137"/>
          </a:xfrm>
          <a:custGeom>
            <a:avLst/>
            <a:gdLst/>
            <a:ahLst/>
            <a:cxnLst/>
            <a:rect l="l" t="t" r="r" b="b"/>
            <a:pathLst>
              <a:path w="668482" h="1114137">
                <a:moveTo>
                  <a:pt x="0" y="0"/>
                </a:moveTo>
                <a:lnTo>
                  <a:pt x="668482" y="0"/>
                </a:lnTo>
                <a:lnTo>
                  <a:pt x="668482" y="1114137"/>
                </a:lnTo>
                <a:lnTo>
                  <a:pt x="0" y="11141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111633" y="1725588"/>
            <a:ext cx="8130071" cy="7263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4800" b="1" u="sng" dirty="0" err="1" smtClean="0">
                <a:latin typeface="Literaturnaya" panose="020B0604020202020204" charset="-52"/>
                <a:ea typeface="Literaturnaya" panose="020B0604020202020204" charset="-52"/>
              </a:rPr>
              <a:t>Өй</a:t>
            </a:r>
            <a:r>
              <a:rPr lang="ru-RU" sz="4800" b="1" u="sng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800" b="1" u="sng" dirty="0" err="1" smtClean="0">
                <a:latin typeface="Literaturnaya" panose="020B0604020202020204" charset="-52"/>
                <a:ea typeface="Literaturnaya" panose="020B0604020202020204" charset="-52"/>
              </a:rPr>
              <a:t>эше</a:t>
            </a:r>
            <a:endParaRPr lang="ru-RU" sz="4800" b="1" u="sng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3200" dirty="0">
                <a:latin typeface="Literaturnaya" panose="020B0604020202020204" charset="-52"/>
                <a:ea typeface="Literaturnaya" panose="020B0604020202020204" charset="-52"/>
              </a:rPr>
              <a:t>Домашнее </a:t>
            </a:r>
            <a:r>
              <a:rPr lang="ru-RU" sz="3200" dirty="0" smtClean="0">
                <a:latin typeface="Literaturnaya" panose="020B0604020202020204" charset="-52"/>
                <a:ea typeface="Literaturnaya" panose="020B0604020202020204" charset="-52"/>
              </a:rPr>
              <a:t>задание</a:t>
            </a:r>
          </a:p>
          <a:p>
            <a:pPr algn="ctr"/>
            <a:endParaRPr lang="ru-RU" sz="32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marL="914400" indent="-914400" algn="ctr">
              <a:buAutoNum type="arabicPeriod"/>
            </a:pPr>
            <a:r>
              <a:rPr lang="ru-RU" sz="4800" b="1" u="sng" dirty="0" err="1" smtClean="0">
                <a:latin typeface="Literaturnaya" panose="020B0604020202020204" charset="-52"/>
                <a:ea typeface="Literaturnaya" panose="020B0604020202020204" charset="-52"/>
              </a:rPr>
              <a:t>Һандарҙы</a:t>
            </a:r>
            <a:r>
              <a:rPr lang="ru-RU" sz="4800" b="1" u="sng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800" b="1" u="sng" dirty="0" err="1" smtClean="0">
                <a:latin typeface="Literaturnaya" panose="020B0604020202020204" charset="-52"/>
                <a:ea typeface="Literaturnaya" panose="020B0604020202020204" charset="-52"/>
              </a:rPr>
              <a:t>сағыштырығыҙ</a:t>
            </a:r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:</a:t>
            </a:r>
          </a:p>
          <a:p>
            <a:pPr algn="ctr"/>
            <a:r>
              <a:rPr lang="ru-RU" sz="3600" dirty="0" smtClean="0">
                <a:latin typeface="Literaturnaya" panose="020B0604020202020204" charset="-52"/>
                <a:ea typeface="Literaturnaya" panose="020B0604020202020204" charset="-52"/>
              </a:rPr>
              <a:t>Сравните числа</a:t>
            </a:r>
          </a:p>
          <a:p>
            <a:pPr algn="ctr"/>
            <a:endParaRPr lang="ru-RU" sz="3600" dirty="0" smtClean="0">
              <a:latin typeface="Literaturnaya" panose="020B0604020202020204" charset="-52"/>
              <a:ea typeface="Literaturnaya" panose="020B0604020202020204" charset="-52"/>
            </a:endParaRPr>
          </a:p>
          <a:p>
            <a:pPr algn="ctr"/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800" dirty="0">
                <a:latin typeface="Literaturnaya" panose="020B0604020202020204" charset="-52"/>
                <a:ea typeface="Literaturnaya" panose="020B0604020202020204" charset="-52"/>
              </a:rPr>
              <a:t>345 __ 354, 900 </a:t>
            </a:r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__ 899</a:t>
            </a:r>
          </a:p>
          <a:p>
            <a:pPr algn="ctr"/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2. </a:t>
            </a:r>
            <a:r>
              <a:rPr lang="ru-RU" sz="4800" b="1" u="sng" dirty="0" err="1" smtClean="0">
                <a:latin typeface="Literaturnaya" panose="020B0604020202020204" charset="-52"/>
                <a:ea typeface="Literaturnaya" panose="020B0604020202020204" charset="-52"/>
              </a:rPr>
              <a:t>Һандарҙы</a:t>
            </a:r>
            <a:r>
              <a:rPr lang="ru-RU" sz="4800" b="1" u="sng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  <a:r>
              <a:rPr lang="ru-RU" sz="4800" b="1" u="sng" dirty="0" err="1">
                <a:latin typeface="Literaturnaya" panose="020B0604020202020204" charset="-52"/>
                <a:ea typeface="Literaturnaya" panose="020B0604020202020204" charset="-52"/>
              </a:rPr>
              <a:t>яҡынлашығыҙ</a:t>
            </a:r>
            <a:r>
              <a:rPr lang="ru-RU" sz="4800" b="1" u="sng" dirty="0" smtClean="0">
                <a:latin typeface="Literaturnaya" panose="020B0604020202020204" charset="-52"/>
                <a:ea typeface="Literaturnaya" panose="020B0604020202020204" charset="-52"/>
              </a:rPr>
              <a:t>:</a:t>
            </a:r>
          </a:p>
          <a:p>
            <a:pPr algn="ctr"/>
            <a:r>
              <a:rPr lang="ru-RU" sz="3600" dirty="0">
                <a:latin typeface="Literaturnaya" panose="020B0604020202020204" charset="-52"/>
                <a:ea typeface="Literaturnaya" panose="020B0604020202020204" charset="-52"/>
              </a:rPr>
              <a:t>Округлите </a:t>
            </a:r>
            <a:r>
              <a:rPr lang="ru-RU" sz="3600" dirty="0" smtClean="0">
                <a:latin typeface="Literaturnaya" panose="020B0604020202020204" charset="-52"/>
                <a:ea typeface="Literaturnaya" panose="020B0604020202020204" charset="-52"/>
              </a:rPr>
              <a:t>числа</a:t>
            </a:r>
          </a:p>
          <a:p>
            <a:pPr algn="ctr"/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 </a:t>
            </a:r>
          </a:p>
          <a:p>
            <a:pPr algn="ctr"/>
            <a:r>
              <a:rPr lang="ru-RU" sz="4800" dirty="0" smtClean="0">
                <a:latin typeface="Literaturnaya" panose="020B0604020202020204" charset="-52"/>
                <a:ea typeface="Literaturnaya" panose="020B0604020202020204" charset="-52"/>
              </a:rPr>
              <a:t>438 </a:t>
            </a:r>
            <a:r>
              <a:rPr lang="ru-RU" sz="4800" dirty="0">
                <a:latin typeface="Literaturnaya" panose="020B0604020202020204" charset="-52"/>
                <a:ea typeface="Literaturnaya" panose="020B0604020202020204" charset="-52"/>
              </a:rPr>
              <a:t>→ ?, 76 → ?</a:t>
            </a:r>
            <a:endParaRPr lang="ru-RU" sz="3600" dirty="0" smtClean="0">
              <a:latin typeface="Literaturnaya" panose="020B0604020202020204" charset="-52"/>
              <a:ea typeface="Literaturnaya" panose="020B0604020202020204" charset="-52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49" y="8032172"/>
            <a:ext cx="1864417" cy="186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3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481</Words>
  <Application>Microsoft Office PowerPoint</Application>
  <PresentationFormat>Произвольный</PresentationFormat>
  <Paragraphs>122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Literaturnaya Bold</vt:lpstr>
      <vt:lpstr>Open Sauce</vt:lpstr>
      <vt:lpstr>Wingdings</vt:lpstr>
      <vt:lpstr>Calibri</vt:lpstr>
      <vt:lpstr>Literaturnaya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feliz cumpleaños felicitaciones notas minimalista blanco y rosa</dc:title>
  <dc:creator>Polina _</dc:creator>
  <cp:lastModifiedBy>dns dns</cp:lastModifiedBy>
  <cp:revision>13</cp:revision>
  <dcterms:created xsi:type="dcterms:W3CDTF">2006-08-16T00:00:00Z</dcterms:created>
  <dcterms:modified xsi:type="dcterms:W3CDTF">2026-04-04T10:08:32Z</dcterms:modified>
  <dc:identifier>DAHF3Tq8GKs</dc:identifier>
</cp:coreProperties>
</file>